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30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386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44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655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991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78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258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736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456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0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207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587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947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222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147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488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82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03E74EB-04BD-4C82-A93B-8614D61FCC59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53B724F-8EE6-4293-BACA-83EBCC8332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3804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C87E3C-8530-CB65-541E-AC56EF76C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3387" y="1371914"/>
            <a:ext cx="9144000" cy="4419286"/>
          </a:xfrm>
        </p:spPr>
        <p:txBody>
          <a:bodyPr>
            <a:normAutofit lnSpcReduction="10000"/>
          </a:bodyPr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US" sz="6600" u="sng" dirty="0">
                <a:solidFill>
                  <a:srgbClr val="FFC000"/>
                </a:solidFill>
              </a:rPr>
              <a:t>Customer Churn Analysis </a:t>
            </a:r>
          </a:p>
          <a:p>
            <a:pPr algn="ctr"/>
            <a:r>
              <a:rPr lang="en-US" sz="6600" dirty="0">
                <a:solidFill>
                  <a:srgbClr val="FFC000"/>
                </a:solidFill>
              </a:rPr>
              <a:t>&amp;</a:t>
            </a:r>
          </a:p>
          <a:p>
            <a:pPr algn="ctr"/>
            <a:r>
              <a:rPr lang="en-US" sz="6600" u="sng" dirty="0">
                <a:solidFill>
                  <a:srgbClr val="FFC000"/>
                </a:solidFill>
              </a:rPr>
              <a:t> Prediction </a:t>
            </a:r>
          </a:p>
          <a:p>
            <a:pPr algn="ctr"/>
            <a:r>
              <a:rPr lang="en-US" sz="6600" u="sng" dirty="0">
                <a:solidFill>
                  <a:srgbClr val="FFC000"/>
                </a:solidFill>
              </a:rPr>
              <a:t>in Telecom Industry</a:t>
            </a:r>
            <a:endParaRPr lang="en-IN" sz="6600" u="sng" dirty="0">
              <a:solidFill>
                <a:srgbClr val="FFC000"/>
              </a:solidFill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430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82B58-FDA4-D02B-1BCB-B33FA1D7A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61" y="532273"/>
            <a:ext cx="9348020" cy="1325563"/>
          </a:xfrm>
        </p:spPr>
        <p:txBody>
          <a:bodyPr/>
          <a:lstStyle/>
          <a:p>
            <a:pPr algn="ctr"/>
            <a:r>
              <a:rPr lang="en-US" u="sng" dirty="0"/>
              <a:t>OBJECTIVES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BCA29-398B-1182-9952-FD1948AF5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100" y="2376232"/>
            <a:ext cx="10233800" cy="3090503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Understand customer behavior using Exploratory Data Analysis (EDA)</a:t>
            </a:r>
          </a:p>
          <a:p>
            <a:endParaRPr lang="en-US" sz="1100" dirty="0"/>
          </a:p>
          <a:p>
            <a:r>
              <a:rPr lang="en-US" sz="3600" dirty="0"/>
              <a:t>Identify patterns and correlations affecting churn (e.g., tenure, contract type, monthly charges)</a:t>
            </a:r>
          </a:p>
          <a:p>
            <a:endParaRPr lang="en-US" sz="1100" dirty="0"/>
          </a:p>
          <a:p>
            <a:r>
              <a:rPr lang="en-US" sz="3600" dirty="0"/>
              <a:t>Detect high-risk customers likely to churn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929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A6B0-9911-7DFE-704D-7369B284F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322" y="384789"/>
            <a:ext cx="7548716" cy="1325563"/>
          </a:xfrm>
        </p:spPr>
        <p:txBody>
          <a:bodyPr>
            <a:normAutofit/>
          </a:bodyPr>
          <a:lstStyle/>
          <a:p>
            <a:r>
              <a:rPr lang="en-IN" sz="4800" dirty="0"/>
              <a:t>  </a:t>
            </a:r>
            <a:r>
              <a:rPr lang="en-IN" sz="4800" u="sng" dirty="0">
                <a:solidFill>
                  <a:srgbClr val="C00000"/>
                </a:solidFill>
              </a:rPr>
              <a:t>Key Insights</a:t>
            </a:r>
            <a:r>
              <a:rPr lang="en-IN" sz="4800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081C7-1EA9-FDC7-4007-1CC70D481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1322" y="1855121"/>
            <a:ext cx="102338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</a:t>
            </a:r>
            <a:r>
              <a:rPr lang="en-IN" sz="3600" u="sng" dirty="0"/>
              <a:t>Tenure vs Churn</a:t>
            </a:r>
          </a:p>
          <a:p>
            <a:pPr marL="0" indent="0">
              <a:buNone/>
            </a:pPr>
            <a:endParaRPr lang="en-IN" sz="3600" dirty="0"/>
          </a:p>
          <a:p>
            <a:r>
              <a:rPr lang="en-US" sz="3600" dirty="0"/>
              <a:t>Customers with </a:t>
            </a:r>
            <a:r>
              <a:rPr lang="en-US" sz="3600" b="1" dirty="0"/>
              <a:t>longer tenure are less likely to churn</a:t>
            </a:r>
          </a:p>
          <a:p>
            <a:r>
              <a:rPr lang="en-US" sz="3600" dirty="0"/>
              <a:t>New customers are at </a:t>
            </a:r>
            <a:r>
              <a:rPr lang="en-US" sz="3600" b="1" dirty="0"/>
              <a:t>higher risk of leaving</a:t>
            </a:r>
          </a:p>
          <a:p>
            <a:endParaRPr lang="en-US" sz="3600" b="1" dirty="0"/>
          </a:p>
          <a:p>
            <a:pPr marL="0" indent="0">
              <a:buNone/>
            </a:pPr>
            <a:r>
              <a:rPr lang="en-US" sz="3600" i="1" dirty="0"/>
              <a:t>   </a:t>
            </a:r>
            <a:r>
              <a:rPr lang="en-US" sz="3600" i="1" dirty="0">
                <a:solidFill>
                  <a:srgbClr val="FFFF00"/>
                </a:solidFill>
              </a:rPr>
              <a:t>Insight:</a:t>
            </a:r>
            <a:r>
              <a:rPr lang="en-US" sz="3600" dirty="0">
                <a:solidFill>
                  <a:srgbClr val="FFFF00"/>
                </a:solidFill>
              </a:rPr>
              <a:t> Early customer experience is critical</a:t>
            </a:r>
            <a:endParaRPr lang="en-IN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320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77DB1-E265-90A9-3944-46BEFF870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E5E02-E6B4-528A-9092-FBEABD2E0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100" y="1048877"/>
            <a:ext cx="1023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dirty="0"/>
              <a:t>   </a:t>
            </a:r>
            <a:r>
              <a:rPr lang="en-IN" sz="3600" u="sng" dirty="0"/>
              <a:t>Contract Type vs Churn</a:t>
            </a:r>
          </a:p>
          <a:p>
            <a:pPr marL="0" indent="0">
              <a:buNone/>
            </a:pPr>
            <a:endParaRPr lang="en-IN" sz="3600" dirty="0"/>
          </a:p>
          <a:p>
            <a:r>
              <a:rPr lang="en-US" sz="3600" dirty="0"/>
              <a:t>Customers on </a:t>
            </a:r>
            <a:r>
              <a:rPr lang="en-US" sz="3600" b="1" dirty="0"/>
              <a:t>long-term contracts churn less</a:t>
            </a:r>
          </a:p>
          <a:p>
            <a:r>
              <a:rPr lang="en-US" sz="3600" dirty="0"/>
              <a:t>Month-to-month customers churn the most</a:t>
            </a:r>
          </a:p>
          <a:p>
            <a:endParaRPr lang="en-US" sz="3600" b="1" dirty="0"/>
          </a:p>
          <a:p>
            <a:pPr marL="0" indent="0">
              <a:buNone/>
            </a:pPr>
            <a:r>
              <a:rPr lang="en-US" sz="3600" i="1" dirty="0"/>
              <a:t>   </a:t>
            </a:r>
            <a:r>
              <a:rPr lang="en-US" sz="3600" i="1" dirty="0">
                <a:solidFill>
                  <a:srgbClr val="FFFF00"/>
                </a:solidFill>
              </a:rPr>
              <a:t>Insight:</a:t>
            </a:r>
            <a:r>
              <a:rPr lang="en-US" sz="3600" dirty="0">
                <a:solidFill>
                  <a:srgbClr val="FFFF00"/>
                </a:solidFill>
              </a:rPr>
              <a:t> Contract commitment reduces churn significantly</a:t>
            </a:r>
            <a:endParaRPr lang="en-IN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671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4E01-EF00-2A92-EDE7-5CA1A0E49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      </a:t>
            </a:r>
            <a:r>
              <a:rPr lang="en-IN" sz="3600" u="sng" dirty="0"/>
              <a:t>Monthly Charges vs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46242-04D6-51E5-7E8F-32DA5D70A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Higher monthly charges → </a:t>
            </a:r>
            <a:r>
              <a:rPr lang="en-US" sz="3600" b="1" dirty="0"/>
              <a:t>higher probability of churn</a:t>
            </a:r>
          </a:p>
          <a:p>
            <a:endParaRPr lang="en-US" sz="3600" b="1" dirty="0"/>
          </a:p>
          <a:p>
            <a:pPr marL="0" indent="0">
              <a:buNone/>
            </a:pPr>
            <a:r>
              <a:rPr lang="en-US" sz="3600" i="1" dirty="0"/>
              <a:t>   </a:t>
            </a:r>
            <a:r>
              <a:rPr lang="en-US" sz="3600" i="1" dirty="0">
                <a:solidFill>
                  <a:srgbClr val="FFFF00"/>
                </a:solidFill>
              </a:rPr>
              <a:t>Insight:</a:t>
            </a:r>
            <a:r>
              <a:rPr lang="en-US" sz="3600" dirty="0">
                <a:solidFill>
                  <a:srgbClr val="FFFF00"/>
                </a:solidFill>
              </a:rPr>
              <a:t> Pricing sensitivity plays a role in customer retention</a:t>
            </a:r>
            <a:endParaRPr lang="en-IN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38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39DD-2D2F-8E0C-DBEB-C3A2C42A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      </a:t>
            </a:r>
            <a:r>
              <a:rPr lang="en-IN" sz="3600" b="1" u="sng" dirty="0"/>
              <a:t>Internet Service vs Monthly Charges</a:t>
            </a:r>
            <a:endParaRPr lang="en-IN" sz="36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C82EE-9F03-EB8A-73CA-397B95031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Internet services (especially fiber) drive </a:t>
            </a:r>
            <a:r>
              <a:rPr lang="en-US" sz="3600" b="1" dirty="0"/>
              <a:t>higher monthly charges</a:t>
            </a:r>
          </a:p>
          <a:p>
            <a:endParaRPr lang="en-US" sz="3600" b="1" dirty="0"/>
          </a:p>
          <a:p>
            <a:pPr marL="0" indent="0">
              <a:buNone/>
            </a:pPr>
            <a:r>
              <a:rPr lang="en-US" sz="3600" i="1" dirty="0"/>
              <a:t>  </a:t>
            </a:r>
            <a:r>
              <a:rPr lang="en-US" sz="3600" i="1" dirty="0">
                <a:solidFill>
                  <a:srgbClr val="FFFF00"/>
                </a:solidFill>
              </a:rPr>
              <a:t>Insight:</a:t>
            </a:r>
            <a:r>
              <a:rPr lang="en-US" sz="3600" dirty="0">
                <a:solidFill>
                  <a:srgbClr val="FFFF00"/>
                </a:solidFill>
              </a:rPr>
              <a:t> Premium services may indirectly increase churn due to cost</a:t>
            </a:r>
            <a:endParaRPr lang="en-IN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287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B247-DB1E-A046-AE49-8A5199477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      </a:t>
            </a:r>
            <a:r>
              <a:rPr lang="en-IN" sz="3600" b="1" u="sng" dirty="0"/>
              <a:t>Total Charges vs Tenure</a:t>
            </a:r>
            <a:endParaRPr lang="en-IN" sz="36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88D73-657F-18B7-8C40-675E3B9C8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Longer tenure → higher total charges (expected behavior)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i="1" dirty="0"/>
              <a:t>   </a:t>
            </a:r>
            <a:r>
              <a:rPr lang="en-US" sz="3600" i="1" dirty="0">
                <a:solidFill>
                  <a:srgbClr val="FFFF00"/>
                </a:solidFill>
              </a:rPr>
              <a:t>Insight:</a:t>
            </a:r>
            <a:r>
              <a:rPr lang="en-US" sz="3600" dirty="0">
                <a:solidFill>
                  <a:srgbClr val="FFFF00"/>
                </a:solidFill>
              </a:rPr>
              <a:t> Loyal customers generate more revenue over time</a:t>
            </a:r>
            <a:endParaRPr lang="en-IN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95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2C132-FE92-D0D6-EBEB-E90DEB9F5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      </a:t>
            </a:r>
            <a:r>
              <a:rPr lang="en-IN" sz="3600" u="sng" dirty="0"/>
              <a:t>Multiple Lines &amp; Monthly Charges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2B594-9391-63FA-5B3B-58C3E0B48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More services → higher bills</a:t>
            </a:r>
          </a:p>
          <a:p>
            <a:pPr marL="0" indent="0">
              <a:buNone/>
            </a:pPr>
            <a:endParaRPr lang="en-IN" sz="3600" dirty="0"/>
          </a:p>
          <a:p>
            <a:pPr marL="0" indent="0">
              <a:buNone/>
            </a:pPr>
            <a:r>
              <a:rPr lang="en-US" sz="3600" i="1" dirty="0"/>
              <a:t>   </a:t>
            </a:r>
            <a:r>
              <a:rPr lang="en-US" sz="3600" i="1" dirty="0">
                <a:solidFill>
                  <a:srgbClr val="FFFF00"/>
                </a:solidFill>
              </a:rPr>
              <a:t>Insight:</a:t>
            </a:r>
            <a:r>
              <a:rPr lang="en-US" sz="3600" dirty="0">
                <a:solidFill>
                  <a:srgbClr val="FFFF00"/>
                </a:solidFill>
              </a:rPr>
              <a:t> Upselling increases revenue but may impact churn</a:t>
            </a:r>
            <a:endParaRPr lang="en-IN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943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E80C-4F6B-9D75-7EFB-023E2602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      </a:t>
            </a:r>
            <a:r>
              <a:rPr lang="en-IN" sz="3600" u="sng" dirty="0"/>
              <a:t>Senior Citizens vs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A6AA6-9177-9F0D-A84D-8E09CACF0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Senior citizens are </a:t>
            </a:r>
            <a:r>
              <a:rPr lang="en-US" sz="3600" b="1" dirty="0"/>
              <a:t>slightly more likely to churn</a:t>
            </a:r>
          </a:p>
          <a:p>
            <a:endParaRPr lang="en-US" sz="3600" b="1" dirty="0"/>
          </a:p>
          <a:p>
            <a:pPr marL="0" indent="0">
              <a:buNone/>
            </a:pPr>
            <a:r>
              <a:rPr lang="en-US" sz="3600" i="1" dirty="0"/>
              <a:t>   </a:t>
            </a:r>
            <a:r>
              <a:rPr lang="en-US" sz="3600" i="1" dirty="0">
                <a:solidFill>
                  <a:srgbClr val="FFFF00"/>
                </a:solidFill>
              </a:rPr>
              <a:t>Insight:</a:t>
            </a:r>
            <a:r>
              <a:rPr lang="en-US" sz="3600" dirty="0">
                <a:solidFill>
                  <a:srgbClr val="FFFF00"/>
                </a:solidFill>
              </a:rPr>
              <a:t> May require better support or targeted plans</a:t>
            </a:r>
            <a:endParaRPr lang="en-IN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12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25503-5129-51D7-2EC1-6B7FB72F7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  <a:r>
              <a:rPr lang="en-IN" u="sng" dirty="0">
                <a:solidFill>
                  <a:srgbClr val="FFFF00"/>
                </a:solidFill>
              </a:rPr>
              <a:t>Final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DB7E-EEE2-3BD3-7693-DDD0CDAE0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High Risk Customers:</a:t>
            </a:r>
            <a:endParaRPr lang="en-US" sz="3600" dirty="0">
              <a:solidFill>
                <a:srgbClr val="C00000"/>
              </a:solidFill>
            </a:endParaRPr>
          </a:p>
          <a:p>
            <a:r>
              <a:rPr lang="en-US" dirty="0"/>
              <a:t>New users (low tenure)</a:t>
            </a:r>
          </a:p>
          <a:p>
            <a:r>
              <a:rPr lang="en-US" dirty="0"/>
              <a:t>Month-to-month contract users</a:t>
            </a:r>
          </a:p>
          <a:p>
            <a:r>
              <a:rPr lang="en-US" dirty="0"/>
              <a:t>High monthly bill customers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sz="3600" b="1" dirty="0">
                <a:solidFill>
                  <a:srgbClr val="00B050"/>
                </a:solidFill>
              </a:rPr>
              <a:t>Low Risk Customers:</a:t>
            </a:r>
            <a:endParaRPr lang="en-US" sz="3600" dirty="0">
              <a:solidFill>
                <a:srgbClr val="00B050"/>
              </a:solidFill>
            </a:endParaRPr>
          </a:p>
          <a:p>
            <a:r>
              <a:rPr lang="en-US" dirty="0"/>
              <a:t>Long-term contract users</a:t>
            </a:r>
          </a:p>
          <a:p>
            <a:r>
              <a:rPr lang="en-US" dirty="0"/>
              <a:t>Customers with long tenure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6403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2A3C1-D80F-86CB-666D-B74D1D0D2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      </a:t>
            </a:r>
            <a:r>
              <a:rPr lang="en-IN" sz="4800" u="sng" dirty="0"/>
              <a:t>Recommendations</a:t>
            </a:r>
            <a:r>
              <a:rPr lang="en-IN" sz="4800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F1BF37-BABC-41AD-7028-CD2165A44C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2181" y="1984615"/>
            <a:ext cx="1036161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discounts on long-term contracts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early-stage engagement offers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(first 3 months)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Introduce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affordable plans for high-bill customers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support for senior citizens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084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BFB71-4150-A9C5-8F26-FF7AC83AB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738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rgbClr val="FFC000"/>
                </a:solidFill>
              </a:rPr>
              <a:t>THANK YOU</a:t>
            </a:r>
            <a:endParaRPr lang="en-IN" sz="6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19923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429</TotalTime>
  <Words>291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Corbel</vt:lpstr>
      <vt:lpstr>Wingdings</vt:lpstr>
      <vt:lpstr>Depth</vt:lpstr>
      <vt:lpstr>PowerPoint Presentation</vt:lpstr>
      <vt:lpstr>OBJECTIVES</vt:lpstr>
      <vt:lpstr>  Key Insights:</vt:lpstr>
      <vt:lpstr>PowerPoint Presentation</vt:lpstr>
      <vt:lpstr>      Monthly Charges vs Churn</vt:lpstr>
      <vt:lpstr>      Internet Service vs Monthly Charges</vt:lpstr>
      <vt:lpstr>      Total Charges vs Tenure</vt:lpstr>
      <vt:lpstr>      Multiple Lines &amp; Monthly Charges</vt:lpstr>
      <vt:lpstr>      Senior Citizens vs Churn</vt:lpstr>
      <vt:lpstr>  Final Business Insights</vt:lpstr>
      <vt:lpstr>      Recommendations: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Ayushi Jain</dc:creator>
  <cp:lastModifiedBy>Ayushi Jain</cp:lastModifiedBy>
  <cp:revision>13</cp:revision>
  <dcterms:created xsi:type="dcterms:W3CDTF">2026-03-20T09:43:12Z</dcterms:created>
  <dcterms:modified xsi:type="dcterms:W3CDTF">2026-03-25T14:00:38Z</dcterms:modified>
</cp:coreProperties>
</file>